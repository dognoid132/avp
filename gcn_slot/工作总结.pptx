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10"/>
  </p:notesMasterIdLst>
  <p:sldIdLst>
    <p:sldId id="256" r:id="rId4"/>
    <p:sldId id="289" r:id="rId5"/>
    <p:sldId id="295" r:id="rId6"/>
    <p:sldId id="297" r:id="rId7"/>
    <p:sldId id="312" r:id="rId8"/>
    <p:sldId id="303" r:id="rId9"/>
    <p:sldId id="302" r:id="rId11"/>
    <p:sldId id="299" r:id="rId12"/>
    <p:sldId id="308" r:id="rId1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739" userDrawn="1">
          <p15:clr>
            <a:srgbClr val="747775"/>
          </p15:clr>
        </p15:guide>
        <p15:guide id="2" pos="2787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DD7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495" autoAdjust="0"/>
    <p:restoredTop sz="84383" autoAdjust="0"/>
  </p:normalViewPr>
  <p:slideViewPr>
    <p:cSldViewPr snapToGrid="0" showGuides="1">
      <p:cViewPr varScale="1">
        <p:scale>
          <a:sx n="72" d="100"/>
          <a:sy n="72" d="100"/>
        </p:scale>
        <p:origin x="941" y="62"/>
      </p:cViewPr>
      <p:guideLst>
        <p:guide orient="horz" pos="1739"/>
        <p:guide pos="2787"/>
      </p:guideLst>
    </p:cSldViewPr>
  </p:slideViewPr>
  <p:notesTextViewPr>
    <p:cViewPr>
      <p:scale>
        <a:sx n="66" d="100"/>
        <a:sy n="66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4" hasCustomPrompt="1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36" tIns="45718" rIns="91436" bIns="45718" anchor="b"/>
          <a:lstStyle>
            <a:lvl1pPr algn="ctr">
              <a:lnSpc>
                <a:spcPct val="92000"/>
              </a:lnSpc>
              <a:defRPr sz="4400" b="1" i="0" u="none" strike="noStrike" spc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ctr">
              <a:lnSpc>
                <a:spcPct val="92000"/>
              </a:lnSpc>
            </a:pPr>
            <a:r>
              <a:rPr lang="en-US" sz="4400" b="1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单击此处编辑母版标题样式</a:t>
            </a:r>
            <a:endParaRPr lang="en-US" sz="4400" b="1" i="0" u="none" strike="noStrike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5" hasCustomPrompt="1"/>
          </p:nvPr>
        </p:nvSpPr>
        <p:spPr>
          <a:xfrm>
            <a:off x="1524000" y="3948547"/>
            <a:ext cx="9144000" cy="130925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36" tIns="45718" rIns="91436" bIns="45718" anchor="t"/>
          <a:lstStyle>
            <a:lvl1pPr algn="ctr">
              <a:lnSpc>
                <a:spcPct val="150000"/>
              </a:lnSpc>
              <a:defRPr sz="2800" b="0" i="0" u="none" strike="noStrike" spc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ctr">
              <a:lnSpc>
                <a:spcPct val="150000"/>
              </a:lnSpc>
            </a:pPr>
            <a:r>
              <a:rPr lang="en-US" sz="28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单击此处编辑母版副标题样式</a:t>
            </a:r>
            <a:endParaRPr lang="en-US" sz="2800" b="0" i="0" u="none" strike="noStrike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6" hasCustomPrompt="1"/>
          </p:nvPr>
        </p:nvSpPr>
        <p:spPr>
          <a:xfrm>
            <a:off x="9448800" y="6492875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36" tIns="45718" rIns="91436" bIns="45718" anchor="ctr"/>
          <a:lstStyle>
            <a:lvl1pPr algn="r">
              <a:lnSpc>
                <a:spcPct val="100000"/>
              </a:lnSpc>
              <a:defRPr sz="1200" b="0" i="0" u="none" strike="noStrike" spc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r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Page </a:t>
            </a:r>
            <a:endParaRPr lang="en-US" sz="1200" b="0" i="0" u="none" strike="noStrike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7" hasCustomPrompt="1"/>
          </p:nvPr>
        </p:nvSpPr>
        <p:spPr>
          <a:xfrm>
            <a:off x="9448800" y="6492875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36" tIns="45718" rIns="91436" bIns="45718" anchor="ctr"/>
          <a:lstStyle>
            <a:lvl1pPr algn="r">
              <a:lnSpc>
                <a:spcPct val="100000"/>
              </a:lnSpc>
              <a:defRPr sz="1200" b="0" i="0" u="none" strike="noStrike" spc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r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Page </a:t>
            </a:r>
            <a:endParaRPr lang="en-US" sz="1200" b="0" i="0" u="none" strike="noStrike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8" hasCustomPrompt="1"/>
          </p:nvPr>
        </p:nvSpPr>
        <p:spPr>
          <a:xfrm>
            <a:off x="457199" y="125788"/>
            <a:ext cx="8614065" cy="5880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lIns="91436" tIns="45718" rIns="91436" bIns="45718" anchor="ctr"/>
          <a:lstStyle>
            <a:lvl1pPr algn="l">
              <a:lnSpc>
                <a:spcPct val="92000"/>
              </a:lnSpc>
              <a:defRPr sz="2800" b="1" i="0" u="none" strike="noStrike" spc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l">
              <a:lnSpc>
                <a:spcPct val="92000"/>
              </a:lnSpc>
            </a:pPr>
            <a:r>
              <a:rPr lang="en-US" sz="2800" b="1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单击此处编辑母版标题样式</a:t>
            </a:r>
            <a:endParaRPr lang="en-US" sz="2800" b="1" i="0" u="none" strike="noStrike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9"/>
          </p:nvPr>
        </p:nvSpPr>
        <p:spPr>
          <a:xfrm>
            <a:off x="457200" y="1059872"/>
            <a:ext cx="11274136" cy="532014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lIns="91436" tIns="45718" rIns="91436" bIns="45718" anchor="t"/>
          <a:lstStyle>
            <a:lvl1pPr algn="l">
              <a:lnSpc>
                <a:spcPct val="15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304800" indent="-304800" algn="l">
              <a:lnSpc>
                <a:spcPct val="150000"/>
              </a:lnSpc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单击此处编辑母版文本样式</a:t>
            </a:r>
            <a:endParaRPr lang="en-US" sz="2400" b="0" i="0" u="none" strike="noStrike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711200" lvl="1" indent="-254000" algn="l">
              <a:lnSpc>
                <a:spcPct val="150000"/>
              </a:lnSpc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第二级</a:t>
            </a:r>
            <a:endParaRPr lang="en-US" sz="2000" b="0" i="0" u="none" strike="noStrike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1143000" lvl="2" indent="-228600" algn="l">
              <a:lnSpc>
                <a:spcPct val="150000"/>
              </a:lnSpc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第三级</a:t>
            </a:r>
            <a:endParaRPr lang="en-US" sz="1800" b="0" i="0" u="none" strike="noStrike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1600200" lvl="3" indent="-228600" algn="l">
              <a:lnSpc>
                <a:spcPct val="150000"/>
              </a:lnSpc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第四级</a:t>
            </a:r>
            <a:endParaRPr lang="en-US" sz="1800" b="0" i="0" u="none" strike="noStrike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2057400" lvl="4" indent="-228600" algn="l">
              <a:lnSpc>
                <a:spcPct val="150000"/>
              </a:lnSpc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第五级</a:t>
            </a:r>
            <a:endParaRPr lang="en-US" sz="1800" b="0" i="0" u="none" strike="noStrike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0" hasCustomPrompt="1"/>
          </p:nvPr>
        </p:nvSpPr>
        <p:spPr>
          <a:xfrm>
            <a:off x="457199" y="125788"/>
            <a:ext cx="8614065" cy="5880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36" tIns="45718" rIns="91436" bIns="45718" anchor="ctr"/>
          <a:lstStyle>
            <a:lvl1pPr algn="l">
              <a:lnSpc>
                <a:spcPct val="92000"/>
              </a:lnSpc>
              <a:defRPr sz="2800" b="1" i="0" u="none" strike="noStrike" spc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l">
              <a:lnSpc>
                <a:spcPct val="92000"/>
              </a:lnSpc>
            </a:pPr>
            <a:r>
              <a:rPr lang="en-US" sz="2800" b="1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单击此处编辑母版标题样式</a:t>
            </a:r>
            <a:endParaRPr lang="en-US" sz="2800" b="1" i="0" u="none" strike="noStrike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1"/>
          </p:nvPr>
        </p:nvSpPr>
        <p:spPr>
          <a:xfrm>
            <a:off x="457200" y="1059872"/>
            <a:ext cx="11274136" cy="532014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36" tIns="45718" rIns="91436" bIns="45718" anchor="t"/>
          <a:lstStyle>
            <a:lvl1pPr algn="l">
              <a:lnSpc>
                <a:spcPct val="15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304800" indent="-304800" algn="l">
              <a:lnSpc>
                <a:spcPct val="150000"/>
              </a:lnSpc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单击此处编辑母版文本样式</a:t>
            </a:r>
            <a:endParaRPr lang="en-US" sz="2400" b="0" i="0" u="none" strike="noStrike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711200" lvl="1" indent="-254000" algn="l">
              <a:lnSpc>
                <a:spcPct val="150000"/>
              </a:lnSpc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第二级</a:t>
            </a:r>
            <a:endParaRPr lang="en-US" sz="2000" b="0" i="0" u="none" strike="noStrike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1143000" lvl="2" indent="-228600" algn="l">
              <a:lnSpc>
                <a:spcPct val="150000"/>
              </a:lnSpc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第三级</a:t>
            </a:r>
            <a:endParaRPr lang="en-US" sz="1800" b="0" i="0" u="none" strike="noStrike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1600200" lvl="3" indent="-228600" algn="l">
              <a:lnSpc>
                <a:spcPct val="150000"/>
              </a:lnSpc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第四级</a:t>
            </a:r>
            <a:endParaRPr lang="en-US" sz="1800" b="0" i="0" u="none" strike="noStrike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2057400" lvl="4" indent="-228600" algn="l">
              <a:lnSpc>
                <a:spcPct val="150000"/>
              </a:lnSpc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第五级</a:t>
            </a:r>
            <a:endParaRPr lang="en-US" sz="1800" b="0" i="0" u="none" strike="noStrike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2" hasCustomPrompt="1"/>
          </p:nvPr>
        </p:nvSpPr>
        <p:spPr>
          <a:xfrm>
            <a:off x="9448800" y="6492875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36" tIns="45718" rIns="91436" bIns="45718" anchor="ctr"/>
          <a:lstStyle>
            <a:lvl1pPr algn="r">
              <a:lnSpc>
                <a:spcPct val="100000"/>
              </a:lnSpc>
              <a:defRPr sz="1200" b="0" i="0" u="none" strike="noStrike" spc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r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Page </a:t>
            </a:r>
            <a:endParaRPr lang="en-US" sz="1200" b="0" i="0" u="none" strike="noStrike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6" Type="http://schemas.openxmlformats.org/officeDocument/2006/relationships/theme" Target="../theme/theme2.xml"/><Relationship Id="rId5" Type="http://schemas.openxmlformats.org/officeDocument/2006/relationships/image" Target="../media/image1.png"/><Relationship Id="rId4" Type="http://schemas.openxmlformats.org/officeDocument/2006/relationships/image" Target="../media/image2.png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017000" y="5029200"/>
            <a:ext cx="2286000" cy="1371600"/>
          </a:xfrm>
          <a:prstGeom prst="rect">
            <a:avLst/>
          </a:prstGeom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/>
          <p:cNvPicPr>
            <a:picLocks noChangeAspect="1"/>
          </p:cNvPicPr>
          <p:nvPr/>
        </p:nvPicPr>
        <p:blipFill>
          <a:blip r:embed="rId4"/>
          <a:srcRect l="13062" t="33848" r="14631" b="33658"/>
          <a:stretch>
            <a:fillRect/>
          </a:stretch>
        </p:blipFill>
        <p:spPr>
          <a:xfrm>
            <a:off x="9291145" y="136886"/>
            <a:ext cx="2817008" cy="576977"/>
          </a:xfrm>
          <a:prstGeom prst="rect">
            <a:avLst/>
          </a:prstGeom>
          <a:ln w="12700">
            <a:noFill/>
            <a:prstDash val="solid"/>
          </a:ln>
        </p:spPr>
      </p:pic>
      <p:cxnSp>
        <p:nvCxnSpPr>
          <p:cNvPr id="2" name="Connector 2"/>
          <p:cNvCxnSpPr/>
          <p:nvPr/>
        </p:nvCxnSpPr>
        <p:spPr>
          <a:xfrm>
            <a:off x="222963" y="798534"/>
            <a:ext cx="11748556" cy="0"/>
          </a:xfrm>
          <a:prstGeom prst="line">
            <a:avLst/>
          </a:prstGeom>
          <a:noFill/>
          <a:ln w="12700" cap="flat">
            <a:solidFill>
              <a:srgbClr val="8A0000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pic>
        <p:nvPicPr>
          <p:cNvPr id="3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17000" y="5029200"/>
            <a:ext cx="2286000" cy="1371600"/>
          </a:xfrm>
          <a:prstGeom prst="rect">
            <a:avLst/>
          </a:prstGeom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tags" Target="../tags/tag1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4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4.xml"/><Relationship Id="rId2" Type="http://schemas.openxmlformats.org/officeDocument/2006/relationships/image" Target="../media/image5.png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4.xml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1.vml"/><Relationship Id="rId6" Type="http://schemas.openxmlformats.org/officeDocument/2006/relationships/slideLayout" Target="../slideLayouts/slideLayout14.xml"/><Relationship Id="rId5" Type="http://schemas.openxmlformats.org/officeDocument/2006/relationships/image" Target="../media/image10.wmf"/><Relationship Id="rId4" Type="http://schemas.openxmlformats.org/officeDocument/2006/relationships/oleObject" Target="../embeddings/oleObject1.bin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image" Target="../media/image11.png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4" hasCustomPrompt="1"/>
          </p:nvPr>
        </p:nvSpPr>
        <p:spPr>
          <a:xfrm>
            <a:off x="880230" y="1962441"/>
            <a:ext cx="10431539" cy="2387600"/>
          </a:xfrm>
          <a:prstGeom prst="rect">
            <a:avLst/>
          </a:prstGeom>
        </p:spPr>
        <p:txBody>
          <a:bodyPr vert="horz" lIns="91436" tIns="45718" rIns="91436" bIns="45718" anchor="b"/>
          <a:lstStyle>
            <a:lvl1pPr algn="ctr">
              <a:lnSpc>
                <a:spcPct val="200000"/>
              </a:lnSpc>
              <a:defRPr sz="5900" b="1" i="0" u="none" strike="noStrike" spc="20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ctr">
              <a:lnSpc>
                <a:spcPct val="200000"/>
              </a:lnSpc>
            </a:pPr>
            <a:r>
              <a:rPr lang="en-US" altLang="zh-CN" sz="5900" b="1" i="0" u="none" strike="noStrike" spc="2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Parking Slot Dection</a:t>
            </a:r>
            <a:br>
              <a:rPr lang="en-US" sz="5900" b="1" i="0" u="none" strike="noStrike" spc="2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</a:br>
            <a:r>
              <a:rPr lang="en-US" sz="3200" b="1" i="0" u="none" strike="noStrike" spc="200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信息感知技术实验室</a:t>
            </a:r>
            <a:r>
              <a:rPr lang="en-US" sz="3200" b="1" i="0" u="none" strike="noStrike" spc="2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——</a:t>
            </a:r>
            <a:r>
              <a:rPr lang="zh-CN" altLang="en-US" sz="3200" b="1" i="0" u="none" strike="noStrike" spc="2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余景奇</a:t>
            </a:r>
            <a:endParaRPr lang="zh-CN" altLang="en-US" sz="3200" b="1" i="0" u="none" strike="noStrike" spc="2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5" hasCustomPrompt="1"/>
          </p:nvPr>
        </p:nvSpPr>
        <p:spPr>
          <a:xfrm>
            <a:off x="1524000" y="5383369"/>
            <a:ext cx="9144000" cy="582771"/>
          </a:xfrm>
          <a:prstGeom prst="rect">
            <a:avLst/>
          </a:prstGeom>
        </p:spPr>
        <p:txBody>
          <a:bodyPr lIns="91436" tIns="45718" rIns="91436" bIns="45718" anchor="t"/>
          <a:lstStyle>
            <a:lvl1pPr algn="ctr">
              <a:lnSpc>
                <a:spcPct val="117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ctr">
              <a:lnSpc>
                <a:spcPct val="117000"/>
              </a:lnSpc>
            </a:pPr>
            <a:r>
              <a:rPr lang="en-US" sz="2400" b="0" i="0" u="none" strike="noStrike" dirty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2025年11月3日</a:t>
            </a:r>
            <a:endParaRPr lang="en-US" sz="2400" b="0" i="0" u="none" strike="noStrike" dirty="0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lIns="91436" tIns="45718" rIns="91436" bIns="45718" anchor="ctr"/>
          <a:lstStyle>
            <a:lvl1pPr algn="r">
              <a:lnSpc>
                <a:spcPct val="100000"/>
              </a:lnSpc>
              <a:defRPr sz="1200" b="0" i="0" u="none" strike="noStrike" spc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r">
              <a:lnSpc>
                <a:spcPct val="100000"/>
              </a:lnSpc>
            </a:pPr>
            <a:endParaRPr lang="en-US" sz="1200" b="0" i="0" u="none" strike="noStrike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50375" y="4872355"/>
            <a:ext cx="2724150" cy="1620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81950" y="4187190"/>
            <a:ext cx="3876675" cy="2305685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1686560" y="1267460"/>
            <a:ext cx="8220710" cy="520636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AutoShape 2"/>
          <p:cNvSpPr>
            <a:spLocks noGrp="1"/>
          </p:cNvSpPr>
          <p:nvPr>
            <p:ph type="body" sz="quarter" idx="10" hasCustomPrompt="1"/>
          </p:nvPr>
        </p:nvSpPr>
        <p:spPr>
          <a:prstGeom prst="rect">
            <a:avLst/>
          </a:prstGeom>
        </p:spPr>
        <p:txBody>
          <a:bodyPr lIns="91436" tIns="45718" rIns="91436" bIns="45718" anchor="ctr"/>
          <a:lstStyle>
            <a:lvl1pPr algn="l">
              <a:lnSpc>
                <a:spcPct val="92000"/>
              </a:lnSpc>
              <a:defRPr sz="2800" b="1" i="0" u="none" strike="noStrike" spc="20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algn="l"/>
            <a:r>
              <a:rPr lang="zh-CN" altLang="en-US" b="1" i="0" dirty="0">
                <a:solidFill>
                  <a:srgbClr val="191B1F"/>
                </a:solidFill>
                <a:effectLst/>
                <a:ea typeface="微软雅黑" panose="020B0503020204020204" charset="-122"/>
                <a:cs typeface="微软雅黑" panose="020B0503020204020204" charset="-122"/>
              </a:rPr>
              <a:t>停车位检测方案</a:t>
            </a:r>
            <a:endParaRPr lang="zh-CN" altLang="en-US" b="1" i="0" dirty="0">
              <a:solidFill>
                <a:srgbClr val="191B1F"/>
              </a:solidFill>
              <a:effectLst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2" hasCustomPrompt="1"/>
          </p:nvPr>
        </p:nvSpPr>
        <p:spPr>
          <a:prstGeom prst="rect">
            <a:avLst/>
          </a:prstGeom>
        </p:spPr>
        <p:txBody>
          <a:bodyPr lIns="91436" tIns="45718" rIns="91436" bIns="45718" anchor="ctr"/>
          <a:lstStyle>
            <a:lvl1pPr algn="r">
              <a:lnSpc>
                <a:spcPct val="100000"/>
              </a:lnSpc>
              <a:defRPr sz="1200" b="0" i="0" u="none" strike="noStrike" spc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r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endParaRPr lang="en-US" sz="1200" b="0" i="0" u="none" strike="noStrike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02" name="矩形 101"/>
          <p:cNvSpPr/>
          <p:nvPr>
            <p:custDataLst>
              <p:tags r:id="rId2"/>
            </p:custDataLst>
          </p:nvPr>
        </p:nvSpPr>
        <p:spPr>
          <a:xfrm rot="600000">
            <a:off x="5812790" y="958850"/>
            <a:ext cx="374015" cy="42672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7" name="文本框 6"/>
          <p:cNvSpPr txBox="1"/>
          <p:nvPr/>
        </p:nvSpPr>
        <p:spPr>
          <a:xfrm>
            <a:off x="2585085" y="1630045"/>
            <a:ext cx="6096000" cy="44208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>
              <a:lnSpc>
                <a:spcPts val="1680"/>
              </a:lnSpc>
              <a:spcBef>
                <a:spcPts val="1000"/>
              </a:spcBef>
              <a:spcAft>
                <a:spcPts val="1000"/>
              </a:spcAft>
            </a:pPr>
            <a:r>
              <a:rPr lang="zh-CN" altLang="en-US" sz="1600">
                <a:solidFill>
                  <a:srgbClr val="11113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包含三个核心模块：</a:t>
            </a:r>
            <a:endParaRPr lang="zh-CN" altLang="en-US" sz="1600" b="0" i="0">
              <a:solidFill>
                <a:srgbClr val="11113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 fontAlgn="t">
              <a:lnSpc>
                <a:spcPts val="1680"/>
              </a:lnSpc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zh-CN" altLang="en-US" sz="1600" b="1">
                <a:solidFill>
                  <a:srgbClr val="11113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图特征编码器（</a:t>
            </a:r>
            <a:r>
              <a:rPr lang="en-US" altLang="zh-CN" sz="1600" b="1">
                <a:solidFill>
                  <a:srgbClr val="11113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Graph Feature Encoder</a:t>
            </a:r>
            <a:r>
              <a:rPr lang="zh-CN" altLang="en-US" sz="1600" b="1">
                <a:solidFill>
                  <a:srgbClr val="11113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）</a:t>
            </a:r>
            <a:endParaRPr lang="zh-CN" altLang="en-US" sz="1600" b="1" i="0">
              <a:solidFill>
                <a:srgbClr val="11113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lvl="1" indent="0">
              <a:spcBef>
                <a:spcPts val="500"/>
              </a:spcBef>
              <a:spcAft>
                <a:spcPts val="500"/>
              </a:spcAft>
              <a:buFont typeface="Arial" panose="020B0604020202020204"/>
              <a:buChar char="◦"/>
            </a:pPr>
            <a:r>
              <a:rPr lang="zh-CN" altLang="en-US" sz="1600">
                <a:solidFill>
                  <a:srgbClr val="11113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使用</a:t>
            </a:r>
            <a:r>
              <a:rPr lang="en-US" altLang="zh-CN" sz="1600">
                <a:solidFill>
                  <a:srgbClr val="11113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CNN</a:t>
            </a:r>
            <a:r>
              <a:rPr lang="zh-CN" altLang="en-US" sz="1600">
                <a:solidFill>
                  <a:srgbClr val="11113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提取输入图像的特征图（</a:t>
            </a:r>
            <a:r>
              <a:rPr lang="en-US" altLang="zh-CN" sz="1600">
                <a:solidFill>
                  <a:srgbClr val="11113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S×S×64</a:t>
            </a:r>
            <a:r>
              <a:rPr lang="zh-CN" altLang="en-US" sz="1600">
                <a:solidFill>
                  <a:srgbClr val="11113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）。</a:t>
            </a:r>
            <a:endParaRPr lang="zh-CN" altLang="en-US" sz="1600" b="0" i="0">
              <a:solidFill>
                <a:srgbClr val="11113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lvl="1" indent="0">
              <a:spcBef>
                <a:spcPts val="500"/>
              </a:spcBef>
              <a:spcAft>
                <a:spcPts val="500"/>
              </a:spcAft>
              <a:buFont typeface="Arial" panose="020B0604020202020204"/>
              <a:buChar char="◦"/>
            </a:pPr>
            <a:r>
              <a:rPr lang="zh-CN" altLang="en-US" sz="1600">
                <a:solidFill>
                  <a:srgbClr val="11113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通过标定点检测头预测</a:t>
            </a:r>
            <a:r>
              <a:rPr lang="en-US" altLang="zh-CN" sz="1600">
                <a:solidFill>
                  <a:srgbClr val="11113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N</a:t>
            </a:r>
            <a:r>
              <a:rPr lang="zh-CN" altLang="en-US" sz="1600">
                <a:solidFill>
                  <a:srgbClr val="11113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个标定点位置</a:t>
            </a:r>
            <a:r>
              <a:rPr lang="en-US" altLang="zh-CN" sz="1600">
                <a:solidFill>
                  <a:srgbClr val="11113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P = (x, y) ∈ ℝ^N×2</a:t>
            </a:r>
            <a:r>
              <a:rPr lang="zh-CN" altLang="en-US" sz="1600">
                <a:solidFill>
                  <a:srgbClr val="11113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。</a:t>
            </a:r>
            <a:endParaRPr lang="zh-CN" altLang="en-US" sz="1600" b="0" i="0">
              <a:solidFill>
                <a:srgbClr val="11113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lvl="1" indent="0">
              <a:spcBef>
                <a:spcPts val="500"/>
              </a:spcBef>
              <a:spcAft>
                <a:spcPts val="500"/>
              </a:spcAft>
              <a:buFont typeface="Arial" panose="020B0604020202020204"/>
              <a:buChar char="◦"/>
            </a:pPr>
            <a:r>
              <a:rPr lang="zh-CN" altLang="en-US" sz="1600">
                <a:solidFill>
                  <a:srgbClr val="11113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使用双线性插值从特征图中提取每个点的特征</a:t>
            </a:r>
            <a:r>
              <a:rPr lang="en-US" altLang="zh-CN" sz="1600">
                <a:solidFill>
                  <a:srgbClr val="11113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F ∈ ℝ^N×64</a:t>
            </a:r>
            <a:r>
              <a:rPr lang="zh-CN" altLang="en-US" sz="1600">
                <a:solidFill>
                  <a:srgbClr val="11113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。</a:t>
            </a:r>
            <a:endParaRPr lang="zh-CN" altLang="en-US" sz="1600" b="0" i="0">
              <a:solidFill>
                <a:srgbClr val="11113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 fontAlgn="t">
              <a:lnSpc>
                <a:spcPts val="1680"/>
              </a:lnSpc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zh-CN" altLang="en-US" sz="1600" b="1">
                <a:solidFill>
                  <a:srgbClr val="11113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图特征聚合（</a:t>
            </a:r>
            <a:r>
              <a:rPr lang="en-US" altLang="zh-CN" sz="1600" b="1">
                <a:solidFill>
                  <a:srgbClr val="11113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Graph Feature Aggregation</a:t>
            </a:r>
            <a:r>
              <a:rPr lang="zh-CN" altLang="en-US" sz="1600" b="1">
                <a:solidFill>
                  <a:srgbClr val="11113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）</a:t>
            </a:r>
            <a:endParaRPr lang="zh-CN" altLang="en-US" sz="1600" b="1" i="0">
              <a:solidFill>
                <a:srgbClr val="11113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lvl="1" indent="0">
              <a:spcBef>
                <a:spcPts val="500"/>
              </a:spcBef>
              <a:spcAft>
                <a:spcPts val="500"/>
              </a:spcAft>
              <a:buFont typeface="Arial" panose="020B0604020202020204"/>
              <a:buChar char="◦"/>
            </a:pPr>
            <a:r>
              <a:rPr lang="zh-CN" altLang="en-US" sz="1600">
                <a:solidFill>
                  <a:srgbClr val="11113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构建全连接图</a:t>
            </a:r>
            <a:r>
              <a:rPr lang="en-US" altLang="zh-CN" sz="1600">
                <a:solidFill>
                  <a:srgbClr val="11113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G = (V, E)</a:t>
            </a:r>
            <a:r>
              <a:rPr lang="zh-CN" altLang="en-US" sz="1600">
                <a:solidFill>
                  <a:srgbClr val="11113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，节点为标定点，边表示潜在连接。</a:t>
            </a:r>
            <a:endParaRPr lang="zh-CN" altLang="en-US" sz="1600" b="0" i="0">
              <a:solidFill>
                <a:srgbClr val="11113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lvl="1" indent="0">
              <a:spcBef>
                <a:spcPts val="500"/>
              </a:spcBef>
              <a:spcAft>
                <a:spcPts val="500"/>
              </a:spcAft>
              <a:buFont typeface="Arial" panose="020B0604020202020204"/>
              <a:buChar char="◦"/>
            </a:pPr>
            <a:r>
              <a:rPr lang="zh-CN" altLang="en-US" sz="1600">
                <a:solidFill>
                  <a:srgbClr val="11113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融合位置信息：</a:t>
            </a:r>
            <a:r>
              <a:rPr lang="en-US" altLang="zh-CN" sz="1600">
                <a:solidFill>
                  <a:srgbClr val="11113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vi = fi + MLP(xi, yi)</a:t>
            </a:r>
            <a:r>
              <a:rPr lang="zh-CN" altLang="en-US" sz="1600">
                <a:solidFill>
                  <a:srgbClr val="11113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，增强空间感知。</a:t>
            </a:r>
            <a:endParaRPr lang="zh-CN" altLang="en-US" sz="1600" b="0" i="0">
              <a:solidFill>
                <a:srgbClr val="11113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lvl="1" indent="0">
              <a:spcBef>
                <a:spcPts val="500"/>
              </a:spcBef>
              <a:spcAft>
                <a:spcPts val="500"/>
              </a:spcAft>
              <a:buFont typeface="Arial" panose="020B0604020202020204"/>
              <a:buChar char="◦"/>
            </a:pPr>
            <a:r>
              <a:rPr lang="zh-CN" altLang="en-US" sz="1600">
                <a:solidFill>
                  <a:srgbClr val="11113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使用多头注意力机制聚合邻居信息，更新节点特征。</a:t>
            </a:r>
            <a:endParaRPr lang="zh-CN" altLang="en-US" sz="1600" b="0" i="0">
              <a:solidFill>
                <a:srgbClr val="11113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 fontAlgn="t">
              <a:lnSpc>
                <a:spcPts val="1680"/>
              </a:lnSpc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zh-CN" altLang="en-US" sz="1600" b="1">
                <a:solidFill>
                  <a:srgbClr val="11113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入口线判别器（</a:t>
            </a:r>
            <a:r>
              <a:rPr lang="en-US" altLang="zh-CN" sz="1600" b="1">
                <a:solidFill>
                  <a:srgbClr val="11113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Entrance Line Discriminator</a:t>
            </a:r>
            <a:r>
              <a:rPr lang="zh-CN" altLang="en-US" sz="1600" b="1">
                <a:solidFill>
                  <a:srgbClr val="11113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）</a:t>
            </a:r>
            <a:endParaRPr lang="zh-CN" altLang="en-US" sz="1600" b="1" i="0">
              <a:solidFill>
                <a:srgbClr val="11113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lvl="1" indent="0">
              <a:spcBef>
                <a:spcPts val="500"/>
              </a:spcBef>
              <a:spcAft>
                <a:spcPts val="500"/>
              </a:spcAft>
              <a:buFont typeface="Arial" panose="020B0604020202020204"/>
              <a:buChar char="◦"/>
            </a:pPr>
            <a:r>
              <a:rPr lang="zh-CN" altLang="en-US" sz="1600">
                <a:solidFill>
                  <a:srgbClr val="11113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对每对节点（</a:t>
            </a:r>
            <a:r>
              <a:rPr lang="en-US" altLang="zh-CN" sz="1600">
                <a:solidFill>
                  <a:srgbClr val="11113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i,j</a:t>
            </a:r>
            <a:r>
              <a:rPr lang="zh-CN" altLang="en-US" sz="1600">
                <a:solidFill>
                  <a:srgbClr val="11113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）计算连接概率。</a:t>
            </a:r>
            <a:endParaRPr lang="zh-CN" altLang="en-US" sz="1600" b="0" i="0">
              <a:solidFill>
                <a:srgbClr val="11113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lvl="1" indent="0">
              <a:spcBef>
                <a:spcPts val="500"/>
              </a:spcBef>
              <a:spcAft>
                <a:spcPts val="500"/>
              </a:spcAft>
              <a:buFont typeface="Arial" panose="020B0604020202020204"/>
              <a:buChar char="◦"/>
            </a:pPr>
            <a:r>
              <a:rPr lang="zh-CN" altLang="en-US" sz="1600">
                <a:solidFill>
                  <a:srgbClr val="11113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输出二分类结果：是否构成有效入口线。</a:t>
            </a:r>
            <a:endParaRPr lang="zh-CN" altLang="en-US" sz="1600" b="0" i="0">
              <a:solidFill>
                <a:srgbClr val="11113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lnSpc>
                <a:spcPts val="1680"/>
              </a:lnSpc>
              <a:spcBef>
                <a:spcPts val="1000"/>
              </a:spcBef>
              <a:spcAft>
                <a:spcPts val="1000"/>
              </a:spcAft>
            </a:pPr>
            <a:r>
              <a:rPr lang="zh-CN" altLang="en-US" sz="1600">
                <a:solidFill>
                  <a:srgbClr val="11113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最终，通过图结构推理直接输出停车位集合。</a:t>
            </a:r>
            <a:endParaRPr lang="zh-CN" altLang="en-US" sz="1600">
              <a:solidFill>
                <a:srgbClr val="11113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81950" y="4187190"/>
            <a:ext cx="3876675" cy="2305685"/>
          </a:xfrm>
          <a:prstGeom prst="rect">
            <a:avLst/>
          </a:prstGeom>
        </p:spPr>
      </p:pic>
      <p:sp>
        <p:nvSpPr>
          <p:cNvPr id="2" name="AutoShape 2"/>
          <p:cNvSpPr>
            <a:spLocks noGrp="1"/>
          </p:cNvSpPr>
          <p:nvPr>
            <p:ph type="body" sz="quarter" idx="10" hasCustomPrompt="1"/>
          </p:nvPr>
        </p:nvSpPr>
        <p:spPr>
          <a:prstGeom prst="rect">
            <a:avLst/>
          </a:prstGeom>
        </p:spPr>
        <p:txBody>
          <a:bodyPr lIns="91436" tIns="45718" rIns="91436" bIns="45718" anchor="ctr"/>
          <a:lstStyle>
            <a:lvl1pPr algn="l">
              <a:lnSpc>
                <a:spcPct val="92000"/>
              </a:lnSpc>
              <a:defRPr sz="2800" b="1" i="0" u="none" strike="noStrike" spc="20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algn="l"/>
            <a:r>
              <a:rPr lang="zh-CN" altLang="en-US" b="1" i="0" dirty="0">
                <a:solidFill>
                  <a:srgbClr val="191B1F"/>
                </a:solidFill>
                <a:effectLst/>
                <a:ea typeface="微软雅黑" panose="020B0503020204020204" charset="-122"/>
              </a:rPr>
              <a:t>多尺度特征融合</a:t>
            </a:r>
            <a:endParaRPr lang="zh-CN" altLang="en-US" b="1" i="0" dirty="0">
              <a:solidFill>
                <a:srgbClr val="191B1F"/>
              </a:solidFill>
              <a:effectLst/>
              <a:ea typeface="微软雅黑" panose="020B0503020204020204" charset="-122"/>
            </a:endParaRP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2" hasCustomPrompt="1"/>
          </p:nvPr>
        </p:nvSpPr>
        <p:spPr>
          <a:prstGeom prst="rect">
            <a:avLst/>
          </a:prstGeom>
        </p:spPr>
        <p:txBody>
          <a:bodyPr lIns="91436" tIns="45718" rIns="91436" bIns="45718" anchor="ctr"/>
          <a:lstStyle>
            <a:lvl1pPr algn="r">
              <a:lnSpc>
                <a:spcPct val="100000"/>
              </a:lnSpc>
              <a:defRPr sz="1200" b="0" i="0" u="none" strike="noStrike" spc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r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endParaRPr lang="en-US" sz="1200" b="0" i="0" u="none" strike="noStrike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grpSp>
        <p:nvGrpSpPr>
          <p:cNvPr id="31" name="组合 30"/>
          <p:cNvGrpSpPr/>
          <p:nvPr/>
        </p:nvGrpSpPr>
        <p:grpSpPr>
          <a:xfrm>
            <a:off x="1024255" y="1288415"/>
            <a:ext cx="6609625" cy="4385405"/>
            <a:chOff x="2042" y="2336"/>
            <a:chExt cx="10409" cy="6906"/>
          </a:xfrm>
        </p:grpSpPr>
        <p:sp>
          <p:nvSpPr>
            <p:cNvPr id="8" name="立方体 7"/>
            <p:cNvSpPr/>
            <p:nvPr/>
          </p:nvSpPr>
          <p:spPr>
            <a:xfrm>
              <a:off x="2042" y="2336"/>
              <a:ext cx="2268" cy="6803"/>
            </a:xfrm>
            <a:prstGeom prst="cube">
              <a:avLst>
                <a:gd name="adj" fmla="val 95573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  <a:scene3d>
              <a:camera prst="orthographicFront">
                <a:rot lat="0" lon="1800000" rev="0"/>
              </a:camera>
              <a:lightRig rig="threePt" dir="t"/>
            </a:scene3d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4" name="立方体 13"/>
            <p:cNvSpPr/>
            <p:nvPr/>
          </p:nvSpPr>
          <p:spPr>
            <a:xfrm>
              <a:off x="2372" y="2439"/>
              <a:ext cx="2268" cy="6803"/>
            </a:xfrm>
            <a:prstGeom prst="cube">
              <a:avLst>
                <a:gd name="adj" fmla="val 95573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  <a:scene3d>
              <a:camera prst="orthographicFront">
                <a:rot lat="0" lon="1800000" rev="0"/>
              </a:camera>
              <a:lightRig rig="threePt" dir="t"/>
            </a:scene3d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5" name="立方体 14"/>
            <p:cNvSpPr/>
            <p:nvPr/>
          </p:nvSpPr>
          <p:spPr>
            <a:xfrm>
              <a:off x="3353" y="4036"/>
              <a:ext cx="1134" cy="3402"/>
            </a:xfrm>
            <a:prstGeom prst="cube">
              <a:avLst>
                <a:gd name="adj" fmla="val 87047"/>
              </a:avLst>
            </a:prstGeom>
            <a:solidFill>
              <a:schemeClr val="bg1"/>
            </a:solidFill>
            <a:ln>
              <a:solidFill>
                <a:srgbClr val="FF0000"/>
              </a:solidFill>
            </a:ln>
            <a:scene3d>
              <a:camera prst="orthographicFront">
                <a:rot lat="0" lon="1800000" rev="0"/>
              </a:camera>
              <a:lightRig rig="threePt" dir="t"/>
            </a:scene3d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6" name="立方体 15"/>
            <p:cNvSpPr/>
            <p:nvPr/>
          </p:nvSpPr>
          <p:spPr>
            <a:xfrm>
              <a:off x="4478" y="4036"/>
              <a:ext cx="1133" cy="3402"/>
            </a:xfrm>
            <a:prstGeom prst="cube">
              <a:avLst>
                <a:gd name="adj" fmla="val 8704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  <a:scene3d>
              <a:camera prst="orthographicFront">
                <a:rot lat="0" lon="1800000" rev="0"/>
              </a:camera>
              <a:lightRig rig="threePt" dir="t"/>
            </a:scene3d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7" name="立方体 16"/>
            <p:cNvSpPr/>
            <p:nvPr/>
          </p:nvSpPr>
          <p:spPr>
            <a:xfrm>
              <a:off x="5602" y="4036"/>
              <a:ext cx="1133" cy="3402"/>
            </a:xfrm>
            <a:prstGeom prst="cube">
              <a:avLst>
                <a:gd name="adj" fmla="val 8704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  <a:scene3d>
              <a:camera prst="orthographicFront">
                <a:rot lat="0" lon="1800000" rev="0"/>
              </a:camera>
              <a:lightRig rig="threePt" dir="t"/>
            </a:scene3d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8" name="立方体 17"/>
            <p:cNvSpPr/>
            <p:nvPr/>
          </p:nvSpPr>
          <p:spPr>
            <a:xfrm>
              <a:off x="6726" y="4893"/>
              <a:ext cx="566" cy="1701"/>
            </a:xfrm>
            <a:prstGeom prst="cube">
              <a:avLst>
                <a:gd name="adj" fmla="val 64029"/>
              </a:avLst>
            </a:prstGeom>
            <a:solidFill>
              <a:schemeClr val="bg1"/>
            </a:solidFill>
            <a:ln w="22225">
              <a:solidFill>
                <a:srgbClr val="FF0000"/>
              </a:solidFill>
            </a:ln>
            <a:scene3d>
              <a:camera prst="orthographicFront">
                <a:rot lat="0" lon="1800000" rev="0"/>
              </a:camera>
              <a:lightRig rig="threePt" dir="t"/>
            </a:scene3d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立方体 18"/>
            <p:cNvSpPr/>
            <p:nvPr/>
          </p:nvSpPr>
          <p:spPr>
            <a:xfrm>
              <a:off x="7283" y="4893"/>
              <a:ext cx="566" cy="1701"/>
            </a:xfrm>
            <a:prstGeom prst="cube">
              <a:avLst>
                <a:gd name="adj" fmla="val 64029"/>
              </a:avLst>
            </a:prstGeom>
            <a:solidFill>
              <a:schemeClr val="bg1"/>
            </a:solidFill>
            <a:ln w="22225">
              <a:solidFill>
                <a:schemeClr val="tx1"/>
              </a:solidFill>
            </a:ln>
            <a:scene3d>
              <a:camera prst="orthographicFront">
                <a:rot lat="0" lon="1800000" rev="0"/>
              </a:camera>
              <a:lightRig rig="threePt" dir="t"/>
            </a:scene3d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立方体 19"/>
            <p:cNvSpPr/>
            <p:nvPr/>
          </p:nvSpPr>
          <p:spPr>
            <a:xfrm>
              <a:off x="7840" y="4893"/>
              <a:ext cx="566" cy="1701"/>
            </a:xfrm>
            <a:prstGeom prst="cube">
              <a:avLst>
                <a:gd name="adj" fmla="val 64029"/>
              </a:avLst>
            </a:prstGeom>
            <a:solidFill>
              <a:schemeClr val="bg1"/>
            </a:solidFill>
            <a:ln w="22225">
              <a:solidFill>
                <a:schemeClr val="tx1"/>
              </a:solidFill>
            </a:ln>
            <a:scene3d>
              <a:camera prst="orthographicFront">
                <a:rot lat="0" lon="1800000" rev="0"/>
              </a:camera>
              <a:lightRig rig="threePt" dir="t"/>
            </a:scene3d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1" name="立方体 20"/>
            <p:cNvSpPr/>
            <p:nvPr/>
          </p:nvSpPr>
          <p:spPr>
            <a:xfrm>
              <a:off x="8397" y="4893"/>
              <a:ext cx="566" cy="1701"/>
            </a:xfrm>
            <a:prstGeom prst="cube">
              <a:avLst>
                <a:gd name="adj" fmla="val 64029"/>
              </a:avLst>
            </a:prstGeom>
            <a:solidFill>
              <a:schemeClr val="bg1"/>
            </a:solidFill>
            <a:ln w="22225">
              <a:solidFill>
                <a:schemeClr val="tx1"/>
              </a:solidFill>
            </a:ln>
            <a:scene3d>
              <a:camera prst="orthographicFront">
                <a:rot lat="0" lon="1800000" rev="0"/>
              </a:camera>
              <a:lightRig rig="threePt" dir="t"/>
            </a:scene3d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2" name="立方体 21"/>
            <p:cNvSpPr/>
            <p:nvPr/>
          </p:nvSpPr>
          <p:spPr>
            <a:xfrm>
              <a:off x="8954" y="5313"/>
              <a:ext cx="445" cy="850"/>
            </a:xfrm>
            <a:prstGeom prst="cube">
              <a:avLst>
                <a:gd name="adj" fmla="val 32455"/>
              </a:avLst>
            </a:prstGeom>
            <a:solidFill>
              <a:schemeClr val="bg1"/>
            </a:solidFill>
            <a:ln w="22225">
              <a:solidFill>
                <a:srgbClr val="FF0000"/>
              </a:solidFill>
            </a:ln>
            <a:scene3d>
              <a:camera prst="orthographicFront">
                <a:rot lat="0" lon="1800000" rev="0"/>
              </a:camera>
              <a:lightRig rig="threePt" dir="t"/>
            </a:scene3d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3" name="立方体 22"/>
            <p:cNvSpPr/>
            <p:nvPr/>
          </p:nvSpPr>
          <p:spPr>
            <a:xfrm>
              <a:off x="9390" y="5313"/>
              <a:ext cx="445" cy="850"/>
            </a:xfrm>
            <a:prstGeom prst="cube">
              <a:avLst>
                <a:gd name="adj" fmla="val 32455"/>
              </a:avLst>
            </a:prstGeom>
            <a:solidFill>
              <a:schemeClr val="bg1"/>
            </a:solidFill>
            <a:ln w="22225">
              <a:solidFill>
                <a:schemeClr val="tx1"/>
              </a:solidFill>
            </a:ln>
            <a:scene3d>
              <a:camera prst="orthographicFront">
                <a:rot lat="0" lon="1800000" rev="0"/>
              </a:camera>
              <a:lightRig rig="threePt" dir="t"/>
            </a:scene3d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4" name="立方体 23"/>
            <p:cNvSpPr/>
            <p:nvPr/>
          </p:nvSpPr>
          <p:spPr>
            <a:xfrm>
              <a:off x="9826" y="5313"/>
              <a:ext cx="445" cy="850"/>
            </a:xfrm>
            <a:prstGeom prst="cube">
              <a:avLst>
                <a:gd name="adj" fmla="val 32455"/>
              </a:avLst>
            </a:prstGeom>
            <a:solidFill>
              <a:schemeClr val="bg1"/>
            </a:solidFill>
            <a:ln w="22225">
              <a:solidFill>
                <a:schemeClr val="tx1"/>
              </a:solidFill>
            </a:ln>
            <a:scene3d>
              <a:camera prst="orthographicFront">
                <a:rot lat="0" lon="1800000" rev="0"/>
              </a:camera>
              <a:lightRig rig="threePt" dir="t"/>
            </a:scene3d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5" name="立方体 24"/>
            <p:cNvSpPr/>
            <p:nvPr/>
          </p:nvSpPr>
          <p:spPr>
            <a:xfrm>
              <a:off x="10262" y="5313"/>
              <a:ext cx="445" cy="850"/>
            </a:xfrm>
            <a:prstGeom prst="cube">
              <a:avLst>
                <a:gd name="adj" fmla="val 32455"/>
              </a:avLst>
            </a:prstGeom>
            <a:solidFill>
              <a:schemeClr val="bg1"/>
            </a:solidFill>
            <a:ln w="22225">
              <a:solidFill>
                <a:schemeClr val="tx1"/>
              </a:solidFill>
            </a:ln>
            <a:scene3d>
              <a:camera prst="orthographicFront">
                <a:rot lat="0" lon="1800000" rev="0"/>
              </a:camera>
              <a:lightRig rig="threePt" dir="t"/>
            </a:scene3d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7" name="立方体 26"/>
            <p:cNvSpPr/>
            <p:nvPr/>
          </p:nvSpPr>
          <p:spPr>
            <a:xfrm>
              <a:off x="10698" y="5531"/>
              <a:ext cx="445" cy="425"/>
            </a:xfrm>
            <a:prstGeom prst="cube">
              <a:avLst>
                <a:gd name="adj" fmla="val 32455"/>
              </a:avLst>
            </a:prstGeom>
            <a:solidFill>
              <a:schemeClr val="bg1"/>
            </a:solidFill>
            <a:ln w="22225">
              <a:solidFill>
                <a:srgbClr val="FF0000"/>
              </a:solidFill>
            </a:ln>
            <a:scene3d>
              <a:camera prst="orthographicFront">
                <a:rot lat="0" lon="1800000" rev="0"/>
              </a:camera>
              <a:lightRig rig="threePt" dir="t"/>
            </a:scene3d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8" name="立方体 27"/>
            <p:cNvSpPr/>
            <p:nvPr/>
          </p:nvSpPr>
          <p:spPr>
            <a:xfrm>
              <a:off x="11134" y="5531"/>
              <a:ext cx="445" cy="425"/>
            </a:xfrm>
            <a:prstGeom prst="cube">
              <a:avLst>
                <a:gd name="adj" fmla="val 32455"/>
              </a:avLst>
            </a:prstGeom>
            <a:solidFill>
              <a:schemeClr val="bg1"/>
            </a:solidFill>
            <a:ln w="22225">
              <a:solidFill>
                <a:schemeClr val="tx1"/>
              </a:solidFill>
            </a:ln>
            <a:scene3d>
              <a:camera prst="orthographicFront">
                <a:rot lat="0" lon="1800000" rev="0"/>
              </a:camera>
              <a:lightRig rig="threePt" dir="t"/>
            </a:scene3d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9" name="立方体 28"/>
            <p:cNvSpPr/>
            <p:nvPr/>
          </p:nvSpPr>
          <p:spPr>
            <a:xfrm>
              <a:off x="11570" y="5531"/>
              <a:ext cx="445" cy="425"/>
            </a:xfrm>
            <a:prstGeom prst="cube">
              <a:avLst>
                <a:gd name="adj" fmla="val 32455"/>
              </a:avLst>
            </a:prstGeom>
            <a:solidFill>
              <a:schemeClr val="bg1"/>
            </a:solidFill>
            <a:ln w="22225">
              <a:solidFill>
                <a:schemeClr val="tx1"/>
              </a:solidFill>
            </a:ln>
            <a:scene3d>
              <a:camera prst="orthographicFront">
                <a:rot lat="0" lon="1800000" rev="0"/>
              </a:camera>
              <a:lightRig rig="threePt" dir="t"/>
            </a:scene3d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0" name="立方体 29"/>
            <p:cNvSpPr/>
            <p:nvPr/>
          </p:nvSpPr>
          <p:spPr>
            <a:xfrm>
              <a:off x="12006" y="5531"/>
              <a:ext cx="445" cy="425"/>
            </a:xfrm>
            <a:prstGeom prst="cube">
              <a:avLst>
                <a:gd name="adj" fmla="val 32455"/>
              </a:avLst>
            </a:prstGeom>
            <a:solidFill>
              <a:schemeClr val="bg1"/>
            </a:solidFill>
            <a:ln w="22225">
              <a:solidFill>
                <a:schemeClr val="tx1"/>
              </a:solidFill>
            </a:ln>
            <a:scene3d>
              <a:camera prst="orthographicFront">
                <a:rot lat="0" lon="1800000" rev="0"/>
              </a:camera>
              <a:lightRig rig="threePt" dir="t"/>
            </a:scene3d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32" name="圆角矩形 31"/>
          <p:cNvSpPr/>
          <p:nvPr/>
        </p:nvSpPr>
        <p:spPr>
          <a:xfrm>
            <a:off x="5395115" y="4953635"/>
            <a:ext cx="1944370" cy="72009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000" b="1">
                <a:solidFill>
                  <a:schemeClr val="tx1"/>
                </a:solidFill>
              </a:rPr>
              <a:t>Fusion</a:t>
            </a:r>
            <a:endParaRPr lang="en-US" altLang="zh-CN" sz="2000" b="1">
              <a:solidFill>
                <a:schemeClr val="tx1"/>
              </a:solidFill>
            </a:endParaRPr>
          </a:p>
        </p:txBody>
      </p:sp>
      <p:cxnSp>
        <p:nvCxnSpPr>
          <p:cNvPr id="33" name="肘形连接符 32"/>
          <p:cNvCxnSpPr>
            <a:stCxn id="21" idx="3"/>
            <a:endCxn id="32" idx="1"/>
          </p:cNvCxnSpPr>
          <p:nvPr/>
        </p:nvCxnSpPr>
        <p:spPr>
          <a:xfrm rot="5400000" flipV="1">
            <a:off x="4598988" y="4517708"/>
            <a:ext cx="1321435" cy="270510"/>
          </a:xfrm>
          <a:prstGeom prst="bentConnector2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5" name="肘形连接符 34"/>
          <p:cNvCxnSpPr>
            <a:stCxn id="30" idx="3"/>
            <a:endCxn id="32" idx="3"/>
          </p:cNvCxnSpPr>
          <p:nvPr/>
        </p:nvCxnSpPr>
        <p:spPr>
          <a:xfrm rot="5400000">
            <a:off x="6530975" y="4395470"/>
            <a:ext cx="1726565" cy="109855"/>
          </a:xfrm>
          <a:prstGeom prst="bentConnector2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6" name="直接箭头连接符 35"/>
          <p:cNvCxnSpPr>
            <a:stCxn id="25" idx="3"/>
            <a:endCxn id="32" idx="0"/>
          </p:cNvCxnSpPr>
          <p:nvPr/>
        </p:nvCxnSpPr>
        <p:spPr>
          <a:xfrm>
            <a:off x="6339205" y="3718560"/>
            <a:ext cx="27940" cy="123507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7" name="矩形 36"/>
          <p:cNvSpPr/>
          <p:nvPr/>
        </p:nvSpPr>
        <p:spPr>
          <a:xfrm>
            <a:off x="9525635" y="4820920"/>
            <a:ext cx="1879600" cy="80264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800">
                <a:solidFill>
                  <a:schemeClr val="tx1"/>
                </a:solidFill>
              </a:rPr>
              <a:t>Prediction</a:t>
            </a:r>
            <a:endParaRPr lang="en-US" altLang="zh-CN" sz="1800">
              <a:solidFill>
                <a:schemeClr val="tx1"/>
              </a:solidFill>
            </a:endParaRPr>
          </a:p>
        </p:txBody>
      </p:sp>
      <p:cxnSp>
        <p:nvCxnSpPr>
          <p:cNvPr id="38" name="曲线连接符 37"/>
          <p:cNvCxnSpPr>
            <a:stCxn id="32" idx="2"/>
            <a:endCxn id="37" idx="1"/>
          </p:cNvCxnSpPr>
          <p:nvPr/>
        </p:nvCxnSpPr>
        <p:spPr>
          <a:xfrm rot="5400000" flipH="1" flipV="1">
            <a:off x="7720965" y="3868420"/>
            <a:ext cx="451485" cy="3158490"/>
          </a:xfrm>
          <a:prstGeom prst="curvedConnector4">
            <a:avLst>
              <a:gd name="adj1" fmla="val -52672"/>
              <a:gd name="adj2" fmla="val 65390"/>
            </a:avLst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0" hasCustomPrompt="1"/>
          </p:nvPr>
        </p:nvSpPr>
        <p:spPr>
          <a:prstGeom prst="rect">
            <a:avLst/>
          </a:prstGeom>
        </p:spPr>
        <p:txBody>
          <a:bodyPr lIns="91436" tIns="45718" rIns="91436" bIns="45718" anchor="ctr"/>
          <a:lstStyle>
            <a:lvl1pPr algn="l">
              <a:lnSpc>
                <a:spcPct val="92000"/>
              </a:lnSpc>
              <a:defRPr sz="2800" b="1" i="0" u="none" strike="noStrike" spc="20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algn="l"/>
            <a:r>
              <a:rPr lang="zh-CN" altLang="en-US" sz="2400" b="1" i="0" dirty="0">
                <a:solidFill>
                  <a:srgbClr val="191B1F"/>
                </a:solidFill>
                <a:effectLst/>
                <a:ea typeface="微软雅黑" panose="020B0503020204020204" charset="-122"/>
                <a:cs typeface="微软雅黑" panose="020B0503020204020204" charset="-122"/>
              </a:rPr>
              <a:t>多尺度特征融合</a:t>
            </a:r>
            <a:r>
              <a:rPr lang="en-US" altLang="zh-CN" sz="2400" b="1" i="0" dirty="0">
                <a:solidFill>
                  <a:srgbClr val="191B1F"/>
                </a:solidFill>
                <a:effectLst/>
                <a:ea typeface="微软雅黑" panose="020B0503020204020204" charset="-122"/>
                <a:cs typeface="微软雅黑" panose="020B0503020204020204" charset="-122"/>
              </a:rPr>
              <a:t>-Fusion Block</a:t>
            </a:r>
            <a:endParaRPr lang="en-US" altLang="zh-CN" sz="2400" b="1" i="0" dirty="0">
              <a:solidFill>
                <a:srgbClr val="191B1F"/>
              </a:solidFill>
              <a:effectLst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2" hasCustomPrompt="1"/>
          </p:nvPr>
        </p:nvSpPr>
        <p:spPr>
          <a:prstGeom prst="rect">
            <a:avLst/>
          </a:prstGeom>
        </p:spPr>
        <p:txBody>
          <a:bodyPr lIns="91436" tIns="45718" rIns="91436" bIns="45718" anchor="ctr"/>
          <a:lstStyle>
            <a:lvl1pPr algn="r">
              <a:lnSpc>
                <a:spcPct val="100000"/>
              </a:lnSpc>
              <a:defRPr sz="1200" b="0" i="0" u="none" strike="noStrike" spc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r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endParaRPr lang="en-US" sz="1200" b="0" i="0" u="none" strike="noStrike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81950" y="4187190"/>
            <a:ext cx="3876675" cy="2305685"/>
          </a:xfrm>
          <a:prstGeom prst="rect">
            <a:avLst/>
          </a:prstGeom>
        </p:spPr>
      </p:pic>
      <p:grpSp>
        <p:nvGrpSpPr>
          <p:cNvPr id="41" name="组合 40"/>
          <p:cNvGrpSpPr/>
          <p:nvPr/>
        </p:nvGrpSpPr>
        <p:grpSpPr>
          <a:xfrm>
            <a:off x="711200" y="1071880"/>
            <a:ext cx="8017510" cy="4104640"/>
            <a:chOff x="2736" y="1688"/>
            <a:chExt cx="12626" cy="6464"/>
          </a:xfrm>
        </p:grpSpPr>
        <p:sp>
          <p:nvSpPr>
            <p:cNvPr id="21" name="立方体 20"/>
            <p:cNvSpPr/>
            <p:nvPr/>
          </p:nvSpPr>
          <p:spPr>
            <a:xfrm>
              <a:off x="2736" y="2026"/>
              <a:ext cx="566" cy="1701"/>
            </a:xfrm>
            <a:prstGeom prst="cube">
              <a:avLst>
                <a:gd name="adj" fmla="val 64029"/>
              </a:avLst>
            </a:prstGeom>
            <a:solidFill>
              <a:schemeClr val="bg1"/>
            </a:solidFill>
            <a:ln w="22225">
              <a:solidFill>
                <a:schemeClr val="tx1"/>
              </a:solidFill>
            </a:ln>
            <a:scene3d>
              <a:camera prst="orthographicFront">
                <a:rot lat="0" lon="1800000" rev="0"/>
              </a:camera>
              <a:lightRig rig="threePt" dir="t"/>
            </a:scene3d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5" name="立方体 24"/>
            <p:cNvSpPr/>
            <p:nvPr/>
          </p:nvSpPr>
          <p:spPr>
            <a:xfrm>
              <a:off x="2736" y="4529"/>
              <a:ext cx="445" cy="850"/>
            </a:xfrm>
            <a:prstGeom prst="cube">
              <a:avLst>
                <a:gd name="adj" fmla="val 32455"/>
              </a:avLst>
            </a:prstGeom>
            <a:solidFill>
              <a:schemeClr val="bg1"/>
            </a:solidFill>
            <a:ln w="22225">
              <a:solidFill>
                <a:schemeClr val="tx1"/>
              </a:solidFill>
            </a:ln>
            <a:scene3d>
              <a:camera prst="orthographicFront">
                <a:rot lat="0" lon="1800000" rev="0"/>
              </a:camera>
              <a:lightRig rig="threePt" dir="t"/>
            </a:scene3d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0" name="立方体 29"/>
            <p:cNvSpPr/>
            <p:nvPr/>
          </p:nvSpPr>
          <p:spPr>
            <a:xfrm>
              <a:off x="2736" y="6818"/>
              <a:ext cx="445" cy="425"/>
            </a:xfrm>
            <a:prstGeom prst="cube">
              <a:avLst>
                <a:gd name="adj" fmla="val 32455"/>
              </a:avLst>
            </a:prstGeom>
            <a:solidFill>
              <a:schemeClr val="bg1"/>
            </a:solidFill>
            <a:ln w="22225">
              <a:solidFill>
                <a:schemeClr val="tx1"/>
              </a:solidFill>
            </a:ln>
            <a:scene3d>
              <a:camera prst="orthographicFront">
                <a:rot lat="0" lon="1800000" rev="0"/>
              </a:camera>
              <a:lightRig rig="threePt" dir="t"/>
            </a:scene3d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2" name="立方体 11"/>
            <p:cNvSpPr/>
            <p:nvPr/>
          </p:nvSpPr>
          <p:spPr>
            <a:xfrm>
              <a:off x="5912" y="2026"/>
              <a:ext cx="566" cy="1701"/>
            </a:xfrm>
            <a:prstGeom prst="cube">
              <a:avLst>
                <a:gd name="adj" fmla="val 64029"/>
              </a:avLst>
            </a:prstGeom>
            <a:solidFill>
              <a:schemeClr val="bg1"/>
            </a:solidFill>
            <a:ln w="22225">
              <a:solidFill>
                <a:schemeClr val="tx1"/>
              </a:solidFill>
            </a:ln>
            <a:scene3d>
              <a:camera prst="orthographicFront">
                <a:rot lat="0" lon="1800000" rev="0"/>
              </a:camera>
              <a:lightRig rig="threePt" dir="t"/>
            </a:scene3d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3" name="立方体 12"/>
            <p:cNvSpPr/>
            <p:nvPr>
              <p:custDataLst>
                <p:tags r:id="rId2"/>
              </p:custDataLst>
            </p:nvPr>
          </p:nvSpPr>
          <p:spPr>
            <a:xfrm>
              <a:off x="5912" y="4104"/>
              <a:ext cx="566" cy="1700"/>
            </a:xfrm>
            <a:prstGeom prst="cube">
              <a:avLst>
                <a:gd name="adj" fmla="val 64029"/>
              </a:avLst>
            </a:prstGeom>
            <a:solidFill>
              <a:schemeClr val="bg1"/>
            </a:solidFill>
            <a:ln w="22225">
              <a:solidFill>
                <a:schemeClr val="tx1"/>
              </a:solidFill>
            </a:ln>
            <a:scene3d>
              <a:camera prst="orthographicFront">
                <a:rot lat="0" lon="1800000" rev="0"/>
              </a:camera>
              <a:lightRig rig="threePt" dir="t"/>
            </a:scene3d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4" name="立方体 13"/>
            <p:cNvSpPr/>
            <p:nvPr>
              <p:custDataLst>
                <p:tags r:id="rId3"/>
              </p:custDataLst>
            </p:nvPr>
          </p:nvSpPr>
          <p:spPr>
            <a:xfrm>
              <a:off x="5912" y="6181"/>
              <a:ext cx="566" cy="1700"/>
            </a:xfrm>
            <a:prstGeom prst="cube">
              <a:avLst>
                <a:gd name="adj" fmla="val 64029"/>
              </a:avLst>
            </a:prstGeom>
            <a:solidFill>
              <a:schemeClr val="bg1"/>
            </a:solidFill>
            <a:ln w="22225">
              <a:solidFill>
                <a:schemeClr val="tx1"/>
              </a:solidFill>
            </a:ln>
            <a:scene3d>
              <a:camera prst="orthographicFront">
                <a:rot lat="0" lon="1800000" rev="0"/>
              </a:camera>
              <a:lightRig rig="threePt" dir="t"/>
            </a:scene3d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5" name="右箭头 14"/>
            <p:cNvSpPr/>
            <p:nvPr>
              <p:custDataLst>
                <p:tags r:id="rId4"/>
              </p:custDataLst>
            </p:nvPr>
          </p:nvSpPr>
          <p:spPr>
            <a:xfrm>
              <a:off x="3675" y="4570"/>
              <a:ext cx="1743" cy="768"/>
            </a:xfrm>
            <a:prstGeom prst="rightArrow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>
                  <a:solidFill>
                    <a:schemeClr val="tx1"/>
                  </a:solidFill>
                </a:rPr>
                <a:t>upsample</a:t>
              </a:r>
              <a:endParaRPr lang="en-US" altLang="zh-CN">
                <a:solidFill>
                  <a:schemeClr val="tx1"/>
                </a:solidFill>
              </a:endParaRPr>
            </a:p>
          </p:txBody>
        </p:sp>
        <p:sp>
          <p:nvSpPr>
            <p:cNvPr id="16" name="右箭头 15"/>
            <p:cNvSpPr/>
            <p:nvPr>
              <p:custDataLst>
                <p:tags r:id="rId5"/>
              </p:custDataLst>
            </p:nvPr>
          </p:nvSpPr>
          <p:spPr>
            <a:xfrm>
              <a:off x="3675" y="6647"/>
              <a:ext cx="1743" cy="768"/>
            </a:xfrm>
            <a:prstGeom prst="rightArrow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>
                  <a:solidFill>
                    <a:schemeClr val="tx1"/>
                  </a:solidFill>
                </a:rPr>
                <a:t>upsample</a:t>
              </a:r>
              <a:endParaRPr lang="en-US" altLang="zh-CN">
                <a:solidFill>
                  <a:schemeClr val="tx1"/>
                </a:solidFill>
              </a:endParaRPr>
            </a:p>
          </p:txBody>
        </p:sp>
        <p:sp>
          <p:nvSpPr>
            <p:cNvPr id="17" name="右箭头 16"/>
            <p:cNvSpPr/>
            <p:nvPr/>
          </p:nvSpPr>
          <p:spPr>
            <a:xfrm>
              <a:off x="3735" y="2633"/>
              <a:ext cx="1743" cy="768"/>
            </a:xfrm>
            <a:prstGeom prst="rightArrow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>
                  <a:solidFill>
                    <a:schemeClr val="tx1"/>
                  </a:solidFill>
                </a:rPr>
                <a:t>copy</a:t>
              </a:r>
              <a:endParaRPr lang="en-US" altLang="zh-CN">
                <a:solidFill>
                  <a:schemeClr val="tx1"/>
                </a:solidFill>
              </a:endParaRPr>
            </a:p>
          </p:txBody>
        </p:sp>
        <p:sp>
          <p:nvSpPr>
            <p:cNvPr id="19" name="立方体 18"/>
            <p:cNvSpPr/>
            <p:nvPr>
              <p:custDataLst>
                <p:tags r:id="rId6"/>
              </p:custDataLst>
            </p:nvPr>
          </p:nvSpPr>
          <p:spPr>
            <a:xfrm>
              <a:off x="8786" y="4104"/>
              <a:ext cx="960" cy="1700"/>
            </a:xfrm>
            <a:prstGeom prst="cube">
              <a:avLst>
                <a:gd name="adj" fmla="val 44207"/>
              </a:avLst>
            </a:prstGeom>
            <a:solidFill>
              <a:schemeClr val="bg1"/>
            </a:solidFill>
            <a:ln w="22225">
              <a:solidFill>
                <a:schemeClr val="tx1"/>
              </a:solidFill>
            </a:ln>
            <a:scene3d>
              <a:camera prst="orthographicFront">
                <a:rot lat="0" lon="1800000" rev="0"/>
              </a:camera>
              <a:lightRig rig="threePt" dir="t"/>
            </a:scene3d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2" name="右箭头 21"/>
            <p:cNvSpPr/>
            <p:nvPr/>
          </p:nvSpPr>
          <p:spPr>
            <a:xfrm rot="2220000">
              <a:off x="6968" y="3021"/>
              <a:ext cx="1328" cy="432"/>
            </a:xfrm>
            <a:prstGeom prst="rightArrow">
              <a:avLst/>
            </a:prstGeom>
            <a:solidFill>
              <a:srgbClr val="BDD7EE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3" name="右箭头 22"/>
            <p:cNvSpPr/>
            <p:nvPr/>
          </p:nvSpPr>
          <p:spPr>
            <a:xfrm rot="8580000" flipH="1">
              <a:off x="6968" y="6455"/>
              <a:ext cx="1328" cy="432"/>
            </a:xfrm>
            <a:prstGeom prst="rightArrow">
              <a:avLst/>
            </a:prstGeom>
            <a:solidFill>
              <a:srgbClr val="BDD7EE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4" name="右箭头 23"/>
            <p:cNvSpPr/>
            <p:nvPr/>
          </p:nvSpPr>
          <p:spPr>
            <a:xfrm>
              <a:off x="6968" y="4738"/>
              <a:ext cx="1328" cy="432"/>
            </a:xfrm>
            <a:prstGeom prst="rightArrow">
              <a:avLst/>
            </a:prstGeom>
            <a:solidFill>
              <a:srgbClr val="BDD7EE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grpSp>
          <p:nvGrpSpPr>
            <p:cNvPr id="28" name="组合 27"/>
            <p:cNvGrpSpPr/>
            <p:nvPr/>
          </p:nvGrpSpPr>
          <p:grpSpPr>
            <a:xfrm>
              <a:off x="6800" y="1688"/>
              <a:ext cx="1664" cy="6464"/>
              <a:chOff x="6633" y="1688"/>
              <a:chExt cx="1664" cy="6464"/>
            </a:xfrm>
          </p:grpSpPr>
          <p:sp>
            <p:nvSpPr>
              <p:cNvPr id="26" name="文本框 25"/>
              <p:cNvSpPr txBox="1"/>
              <p:nvPr/>
            </p:nvSpPr>
            <p:spPr>
              <a:xfrm>
                <a:off x="6801" y="1688"/>
                <a:ext cx="1329" cy="4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/>
                  <a:t>concat</a:t>
                </a:r>
                <a:endParaRPr lang="en-US" altLang="zh-CN"/>
              </a:p>
            </p:txBody>
          </p:sp>
          <p:sp>
            <p:nvSpPr>
              <p:cNvPr id="27" name="圆角矩形 26"/>
              <p:cNvSpPr/>
              <p:nvPr/>
            </p:nvSpPr>
            <p:spPr>
              <a:xfrm>
                <a:off x="6633" y="1688"/>
                <a:ext cx="1664" cy="6464"/>
              </a:xfrm>
              <a:prstGeom prst="roundRect">
                <a:avLst/>
              </a:prstGeom>
              <a:noFill/>
              <a:ln w="28575" cmpd="dbl">
                <a:solidFill>
                  <a:schemeClr val="tx1"/>
                </a:solidFill>
                <a:prstDash val="soli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grpSp>
          <p:nvGrpSpPr>
            <p:cNvPr id="35" name="组合 34"/>
            <p:cNvGrpSpPr/>
            <p:nvPr/>
          </p:nvGrpSpPr>
          <p:grpSpPr>
            <a:xfrm>
              <a:off x="12054" y="2269"/>
              <a:ext cx="282" cy="5370"/>
              <a:chOff x="10735" y="2344"/>
              <a:chExt cx="282" cy="5370"/>
            </a:xfrm>
            <a:solidFill>
              <a:schemeClr val="bg1">
                <a:lumMod val="85000"/>
              </a:schemeClr>
            </a:solidFill>
          </p:grpSpPr>
          <p:sp>
            <p:nvSpPr>
              <p:cNvPr id="90" name="Google Shape;90;p17"/>
              <p:cNvSpPr/>
              <p:nvPr/>
            </p:nvSpPr>
            <p:spPr>
              <a:xfrm rot="5400000" flipH="1">
                <a:off x="10735" y="2344"/>
                <a:ext cx="283" cy="283"/>
              </a:xfrm>
              <a:prstGeom prst="rect">
                <a:avLst/>
              </a:prstGeom>
              <a:grpFill/>
              <a:ln w="28575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1" name="Google Shape;91;p17"/>
              <p:cNvSpPr/>
              <p:nvPr/>
            </p:nvSpPr>
            <p:spPr>
              <a:xfrm rot="5400000" flipH="1">
                <a:off x="10735" y="3616"/>
                <a:ext cx="283" cy="283"/>
              </a:xfrm>
              <a:prstGeom prst="rect">
                <a:avLst/>
              </a:prstGeom>
              <a:grpFill/>
              <a:ln w="28575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2" name="Google Shape;92;p17"/>
              <p:cNvSpPr/>
              <p:nvPr/>
            </p:nvSpPr>
            <p:spPr>
              <a:xfrm rot="5400000" flipH="1">
                <a:off x="10735" y="4888"/>
                <a:ext cx="283" cy="283"/>
              </a:xfrm>
              <a:prstGeom prst="rect">
                <a:avLst/>
              </a:prstGeom>
              <a:grpFill/>
              <a:ln w="28575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3" name="Google Shape;93;p17"/>
              <p:cNvSpPr/>
              <p:nvPr/>
            </p:nvSpPr>
            <p:spPr>
              <a:xfrm rot="5400000" flipH="1">
                <a:off x="10735" y="6160"/>
                <a:ext cx="283" cy="283"/>
              </a:xfrm>
              <a:prstGeom prst="rect">
                <a:avLst/>
              </a:prstGeom>
              <a:grpFill/>
              <a:ln w="28575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4" name="Google Shape;94;p17"/>
              <p:cNvSpPr/>
              <p:nvPr/>
            </p:nvSpPr>
            <p:spPr>
              <a:xfrm rot="5400000" flipH="1">
                <a:off x="10735" y="7432"/>
                <a:ext cx="283" cy="283"/>
              </a:xfrm>
              <a:prstGeom prst="rect">
                <a:avLst/>
              </a:prstGeom>
              <a:grpFill/>
              <a:ln w="28575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9" name="Google Shape;90;p17"/>
              <p:cNvSpPr/>
              <p:nvPr/>
            </p:nvSpPr>
            <p:spPr>
              <a:xfrm rot="5400000" flipH="1">
                <a:off x="10735" y="2980"/>
                <a:ext cx="283" cy="283"/>
              </a:xfrm>
              <a:prstGeom prst="rect">
                <a:avLst/>
              </a:prstGeom>
              <a:grpFill/>
              <a:ln w="28575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1" name="Google Shape;90;p17"/>
              <p:cNvSpPr/>
              <p:nvPr/>
            </p:nvSpPr>
            <p:spPr>
              <a:xfrm rot="5400000" flipH="1">
                <a:off x="10735" y="4252"/>
                <a:ext cx="283" cy="283"/>
              </a:xfrm>
              <a:prstGeom prst="rect">
                <a:avLst/>
              </a:prstGeom>
              <a:grpFill/>
              <a:ln w="28575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2" name="Google Shape;90;p17"/>
              <p:cNvSpPr/>
              <p:nvPr/>
            </p:nvSpPr>
            <p:spPr>
              <a:xfrm rot="5400000" flipH="1">
                <a:off x="10735" y="5524"/>
                <a:ext cx="283" cy="283"/>
              </a:xfrm>
              <a:prstGeom prst="rect">
                <a:avLst/>
              </a:prstGeom>
              <a:grpFill/>
              <a:ln w="28575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3" name="Google Shape;90;p17"/>
              <p:cNvSpPr/>
              <p:nvPr/>
            </p:nvSpPr>
            <p:spPr>
              <a:xfrm rot="5400000" flipH="1">
                <a:off x="10735" y="6796"/>
                <a:ext cx="283" cy="283"/>
              </a:xfrm>
              <a:prstGeom prst="rect">
                <a:avLst/>
              </a:prstGeom>
              <a:grpFill/>
              <a:ln w="28575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36" name="右箭头 35"/>
            <p:cNvSpPr/>
            <p:nvPr/>
          </p:nvSpPr>
          <p:spPr>
            <a:xfrm>
              <a:off x="10257" y="4654"/>
              <a:ext cx="1419" cy="600"/>
            </a:xfrm>
            <a:prstGeom prst="rightArrow">
              <a:avLst/>
            </a:prstGeom>
            <a:solidFill>
              <a:srgbClr val="BDD7EE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en-US">
                  <a:solidFill>
                    <a:schemeClr val="tx1"/>
                  </a:solidFill>
                </a:rPr>
                <a:t>pooling</a:t>
              </a:r>
              <a:endParaRPr lang="en-US" altLang="en-US">
                <a:solidFill>
                  <a:schemeClr val="tx1"/>
                </a:solidFill>
              </a:endParaRPr>
            </a:p>
          </p:txBody>
        </p:sp>
        <p:sp>
          <p:nvSpPr>
            <p:cNvPr id="37" name="右箭头 36"/>
            <p:cNvSpPr/>
            <p:nvPr/>
          </p:nvSpPr>
          <p:spPr>
            <a:xfrm>
              <a:off x="12715" y="4654"/>
              <a:ext cx="1419" cy="600"/>
            </a:xfrm>
            <a:prstGeom prst="rightArrow">
              <a:avLst/>
            </a:prstGeom>
            <a:solidFill>
              <a:srgbClr val="BDD7EE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en-US">
                  <a:solidFill>
                    <a:schemeClr val="tx1"/>
                  </a:solidFill>
                </a:rPr>
                <a:t>weight</a:t>
              </a:r>
              <a:endParaRPr lang="en-US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Google Shape;90;p17"/>
            <p:cNvSpPr/>
            <p:nvPr/>
          </p:nvSpPr>
          <p:spPr>
            <a:xfrm flipH="1">
              <a:off x="14512" y="4529"/>
              <a:ext cx="850" cy="85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28575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l">
                <a:buSzTx/>
              </a:pPr>
              <a:r>
                <a:rPr lang="en-US">
                  <a:sym typeface="+mn-ea"/>
                </a:rPr>
                <a:t>W2</a:t>
              </a:r>
              <a:endParaRPr lang="en-US">
                <a:sym typeface="+mn-ea"/>
              </a:endParaRPr>
            </a:p>
          </p:txBody>
        </p:sp>
        <p:sp>
          <p:nvSpPr>
            <p:cNvPr id="39" name="Google Shape;90;p17"/>
            <p:cNvSpPr/>
            <p:nvPr/>
          </p:nvSpPr>
          <p:spPr>
            <a:xfrm flipH="1">
              <a:off x="14512" y="5871"/>
              <a:ext cx="850" cy="85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28575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l">
                <a:buSzTx/>
              </a:pPr>
              <a:r>
                <a:rPr lang="en-US">
                  <a:sym typeface="+mn-ea"/>
                </a:rPr>
                <a:t>W3</a:t>
              </a:r>
              <a:endParaRPr lang="en-US">
                <a:sym typeface="+mn-ea"/>
              </a:endParaRPr>
            </a:p>
          </p:txBody>
        </p:sp>
        <p:sp>
          <p:nvSpPr>
            <p:cNvPr id="40" name="Google Shape;90;p17"/>
            <p:cNvSpPr/>
            <p:nvPr/>
          </p:nvSpPr>
          <p:spPr>
            <a:xfrm flipH="1">
              <a:off x="14512" y="3187"/>
              <a:ext cx="850" cy="85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28575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/>
                <a:t>W1</a:t>
              </a:r>
              <a:endParaRPr lang="en-US"/>
            </a:p>
          </p:txBody>
        </p:sp>
      </p:grpSp>
      <p:sp>
        <p:nvSpPr>
          <p:cNvPr id="43" name="圆角矩形 42"/>
          <p:cNvSpPr/>
          <p:nvPr/>
        </p:nvSpPr>
        <p:spPr>
          <a:xfrm>
            <a:off x="7948885" y="1071880"/>
            <a:ext cx="1056640" cy="4104640"/>
          </a:xfrm>
          <a:prstGeom prst="roundRect">
            <a:avLst/>
          </a:prstGeom>
          <a:noFill/>
          <a:ln w="28575" cmpd="dbl">
            <a:solidFill>
              <a:schemeClr val="tx1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</a:extLst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4" name="文本框 43"/>
          <p:cNvSpPr txBox="1"/>
          <p:nvPr/>
        </p:nvSpPr>
        <p:spPr>
          <a:xfrm>
            <a:off x="8340045" y="1203960"/>
            <a:ext cx="27432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W</a:t>
            </a:r>
            <a:endParaRPr lang="en-US" altLang="zh-CN"/>
          </a:p>
        </p:txBody>
      </p:sp>
      <p:sp>
        <p:nvSpPr>
          <p:cNvPr id="48" name="圆角矩形 47"/>
          <p:cNvSpPr/>
          <p:nvPr/>
        </p:nvSpPr>
        <p:spPr>
          <a:xfrm>
            <a:off x="10109835" y="2530793"/>
            <a:ext cx="1238885" cy="1186815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400">
                <a:solidFill>
                  <a:schemeClr val="tx1"/>
                </a:solidFill>
              </a:rPr>
              <a:t>output</a:t>
            </a:r>
            <a:endParaRPr lang="en-US" altLang="zh-CN" sz="2400">
              <a:solidFill>
                <a:schemeClr val="tx1"/>
              </a:solidFill>
            </a:endParaRPr>
          </a:p>
        </p:txBody>
      </p:sp>
      <p:cxnSp>
        <p:nvCxnSpPr>
          <p:cNvPr id="49" name="直接箭头连接符 48"/>
          <p:cNvCxnSpPr>
            <a:stCxn id="43" idx="3"/>
            <a:endCxn id="48" idx="1"/>
          </p:cNvCxnSpPr>
          <p:nvPr/>
        </p:nvCxnSpPr>
        <p:spPr>
          <a:xfrm>
            <a:off x="9005570" y="3124200"/>
            <a:ext cx="1104265" cy="635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0" name="肘形连接符 49"/>
          <p:cNvCxnSpPr>
            <a:stCxn id="14" idx="3"/>
            <a:endCxn id="48" idx="1"/>
          </p:cNvCxnSpPr>
          <p:nvPr/>
        </p:nvCxnSpPr>
        <p:spPr>
          <a:xfrm rot="5400000" flipH="1" flipV="1">
            <a:off x="5511165" y="405130"/>
            <a:ext cx="1880235" cy="7317105"/>
          </a:xfrm>
          <a:prstGeom prst="bentConnector4">
            <a:avLst>
              <a:gd name="adj1" fmla="val -44005"/>
              <a:gd name="adj2" fmla="val 92562"/>
            </a:avLst>
          </a:prstGeom>
          <a:ln w="19050" cap="flat" cmpd="sng" algn="ctr">
            <a:solidFill>
              <a:schemeClr val="tx1"/>
            </a:solidFill>
            <a:prstDash val="dash"/>
            <a:tailEnd type="arrow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占位符 3"/>
          <p:cNvSpPr>
            <a:spLocks noGrp="1"/>
          </p:cNvSpPr>
          <p:nvPr>
            <p:ph type="body" sz="quarter" idx="12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0505" y="1305560"/>
            <a:ext cx="9190990" cy="459549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207645" y="323850"/>
            <a:ext cx="6096000" cy="4305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92000"/>
              </a:lnSpc>
              <a:buSzTx/>
            </a:pPr>
            <a:r>
              <a:rPr lang="zh-CN" altLang="en-US" sz="2400" b="1" spc="200" dirty="0">
                <a:solidFill>
                  <a:srgbClr val="191B1F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边缘线增强</a:t>
            </a:r>
            <a:endParaRPr lang="zh-CN" altLang="en-US" sz="2400" b="1" spc="200" dirty="0">
              <a:solidFill>
                <a:srgbClr val="191B1F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81950" y="4187190"/>
            <a:ext cx="3876675" cy="2305685"/>
          </a:xfrm>
          <a:prstGeom prst="rect">
            <a:avLst/>
          </a:prstGeom>
        </p:spPr>
      </p:pic>
      <p:sp>
        <p:nvSpPr>
          <p:cNvPr id="4" name="文本占位符 3"/>
          <p:cNvSpPr/>
          <p:nvPr>
            <p:ph type="body" sz="quarter" idx="12"/>
          </p:nvPr>
        </p:nvSpPr>
        <p:spPr/>
        <p:txBody>
          <a:bodyPr/>
          <a:p>
            <a:r>
              <a:rPr lang="en-US" altLang="zh-CN" sz="2400" b="1" spc="200" dirty="0">
                <a:solidFill>
                  <a:srgbClr val="191B1F"/>
                </a:solidFill>
                <a:effectLst/>
                <a:ea typeface="微软雅黑" panose="020B0503020204020204" charset="-122"/>
                <a:cs typeface="微软雅黑" panose="020B0503020204020204" charset="-122"/>
              </a:rPr>
              <a:t> </a:t>
            </a:r>
            <a:endParaRPr lang="en-US" altLang="zh-CN" sz="2400" b="1" spc="200" dirty="0">
              <a:solidFill>
                <a:srgbClr val="191B1F"/>
              </a:solidFill>
              <a:effectLst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文本占位符 4"/>
          <p:cNvSpPr/>
          <p:nvPr>
            <p:ph type="body" sz="quarter" idx="10"/>
          </p:nvPr>
        </p:nvSpPr>
        <p:spPr/>
        <p:txBody>
          <a:bodyPr/>
          <a:p>
            <a:pPr algn="l">
              <a:buSzTx/>
            </a:pPr>
            <a:r>
              <a:rPr lang="zh-CN" altLang="en-US" sz="2400" spc="200" dirty="0">
                <a:solidFill>
                  <a:srgbClr val="191B1F"/>
                </a:solidFill>
                <a:effectLst/>
                <a:ea typeface="微软雅黑" panose="020B0503020204020204" charset="-122"/>
                <a:cs typeface="微软雅黑" panose="020B0503020204020204" charset="-122"/>
              </a:rPr>
              <a:t>边缘线增强</a:t>
            </a:r>
            <a:endParaRPr lang="zh-CN" altLang="en-US" sz="2400" spc="200" dirty="0">
              <a:solidFill>
                <a:srgbClr val="191B1F"/>
              </a:solidFill>
              <a:effectLst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3290" y="1694815"/>
            <a:ext cx="7804785" cy="390271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81950" y="4187190"/>
            <a:ext cx="3876675" cy="2305685"/>
          </a:xfrm>
          <a:prstGeom prst="rect">
            <a:avLst/>
          </a:prstGeom>
        </p:spPr>
      </p:pic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zh-CN" sz="2400">
                <a:ea typeface="微软雅黑" panose="020B0503020204020204" charset="-122"/>
              </a:rPr>
              <a:t>损失函数</a:t>
            </a:r>
            <a:r>
              <a:rPr lang="en-US" altLang="zh-CN" sz="2400">
                <a:ea typeface="微软雅黑" panose="020B0503020204020204" charset="-122"/>
              </a:rPr>
              <a:t>-</a:t>
            </a:r>
            <a:r>
              <a:rPr lang="zh-CN" altLang="en-US" sz="2400">
                <a:ea typeface="微软雅黑" panose="020B0503020204020204" charset="-122"/>
              </a:rPr>
              <a:t>原</a:t>
            </a:r>
            <a:endParaRPr lang="zh-CN" altLang="en-US" sz="2400">
              <a:ea typeface="微软雅黑" panose="020B0503020204020204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2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860" y="1962150"/>
            <a:ext cx="6446907" cy="14400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911860" y="1313180"/>
            <a:ext cx="5053330" cy="6489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 fontAlgn="base">
              <a:lnSpc>
                <a:spcPct val="150000"/>
              </a:lnSpc>
              <a:buSzTx/>
              <a:buAutoNum type="arabicPeriod"/>
            </a:pPr>
            <a:r>
              <a:rPr lang="zh-CN" altLang="en-US" sz="2000">
                <a:solidFill>
                  <a:srgbClr val="1A2029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点损失</a:t>
            </a:r>
            <a:endParaRPr lang="zh-CN" altLang="en-US" sz="2000">
              <a:solidFill>
                <a:srgbClr val="1A2029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860" y="4794885"/>
            <a:ext cx="6447600" cy="1793012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038860" y="4003675"/>
            <a:ext cx="5053330" cy="6489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l" fontAlgn="base">
              <a:lnSpc>
                <a:spcPct val="150000"/>
              </a:lnSpc>
              <a:buSzTx/>
              <a:buNone/>
            </a:pPr>
            <a:r>
              <a:rPr lang="en-US" altLang="zh-CN" sz="2000">
                <a:solidFill>
                  <a:srgbClr val="1A2029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2.</a:t>
            </a:r>
            <a:r>
              <a:rPr lang="zh-CN" altLang="en-US" sz="2000">
                <a:solidFill>
                  <a:srgbClr val="1A2029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匹配边损失</a:t>
            </a:r>
            <a:endParaRPr lang="zh-CN" altLang="en-US" sz="2000">
              <a:solidFill>
                <a:srgbClr val="1A2029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81950" y="4187190"/>
            <a:ext cx="3876675" cy="2305685"/>
          </a:xfrm>
          <a:prstGeom prst="rect">
            <a:avLst/>
          </a:prstGeom>
        </p:spPr>
      </p:pic>
      <p:sp>
        <p:nvSpPr>
          <p:cNvPr id="2" name="AutoShape 2"/>
          <p:cNvSpPr>
            <a:spLocks noGrp="1"/>
          </p:cNvSpPr>
          <p:nvPr>
            <p:ph type="body" sz="quarter" idx="10" hasCustomPrompt="1"/>
          </p:nvPr>
        </p:nvSpPr>
        <p:spPr>
          <a:xfrm>
            <a:off x="313055" y="125730"/>
            <a:ext cx="10206990" cy="588010"/>
          </a:xfrm>
          <a:prstGeom prst="rect">
            <a:avLst/>
          </a:prstGeom>
        </p:spPr>
        <p:txBody>
          <a:bodyPr lIns="91436" tIns="45718" rIns="91436" bIns="45718" anchor="ctr"/>
          <a:lstStyle>
            <a:lvl1pPr algn="l">
              <a:lnSpc>
                <a:spcPct val="92000"/>
              </a:lnSpc>
              <a:defRPr sz="2800" b="1" i="0" u="none" strike="noStrike" spc="20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algn="l"/>
            <a:r>
              <a:rPr lang="zh-CN" altLang="zh-CN" sz="2400">
                <a:ea typeface="微软雅黑" panose="020B0503020204020204" charset="-122"/>
                <a:sym typeface="+mn-ea"/>
              </a:rPr>
              <a:t>损失函数</a:t>
            </a:r>
            <a:r>
              <a:rPr lang="en-US" altLang="zh-CN" sz="2400">
                <a:ea typeface="微软雅黑" panose="020B0503020204020204" charset="-122"/>
                <a:sym typeface="+mn-ea"/>
              </a:rPr>
              <a:t>-</a:t>
            </a:r>
            <a:r>
              <a:rPr lang="zh-CN" altLang="en-US" sz="2400">
                <a:ea typeface="微软雅黑" panose="020B0503020204020204" charset="-122"/>
                <a:sym typeface="+mn-ea"/>
              </a:rPr>
              <a:t>改</a:t>
            </a:r>
            <a:endParaRPr lang="zh-CN" altLang="en-US" sz="2400" b="1" i="0" dirty="0">
              <a:solidFill>
                <a:srgbClr val="191B1F"/>
              </a:solidFill>
              <a:effectLst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2" hasCustomPrompt="1"/>
          </p:nvPr>
        </p:nvSpPr>
        <p:spPr>
          <a:prstGeom prst="rect">
            <a:avLst/>
          </a:prstGeom>
        </p:spPr>
        <p:txBody>
          <a:bodyPr lIns="91436" tIns="45718" rIns="91436" bIns="45718" anchor="ctr"/>
          <a:lstStyle>
            <a:lvl1pPr algn="r">
              <a:lnSpc>
                <a:spcPct val="100000"/>
              </a:lnSpc>
              <a:defRPr sz="1200" b="0" i="0" u="none" strike="noStrike" spc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r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Page </a:t>
            </a:r>
            <a:endParaRPr lang="en-US" sz="1200" b="0" i="0" u="none" strike="noStrike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685" y="2997835"/>
            <a:ext cx="6447600" cy="1564022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911860" y="1313180"/>
            <a:ext cx="5053330" cy="6489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 fontAlgn="base">
              <a:lnSpc>
                <a:spcPct val="150000"/>
              </a:lnSpc>
              <a:buSzTx/>
              <a:buAutoNum type="arabicPeriod"/>
            </a:pPr>
            <a:r>
              <a:rPr lang="zh-CN" altLang="en-US" sz="2000">
                <a:solidFill>
                  <a:srgbClr val="1A2029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点损失（改进后）</a:t>
            </a:r>
            <a:endParaRPr lang="en-US" altLang="zh-CN" sz="2000">
              <a:solidFill>
                <a:srgbClr val="1A2029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690" y="4768850"/>
            <a:ext cx="9444355" cy="1891030"/>
          </a:xfrm>
          <a:prstGeom prst="rect">
            <a:avLst/>
          </a:prstGeom>
        </p:spPr>
      </p:pic>
      <p:graphicFrame>
        <p:nvGraphicFramePr>
          <p:cNvPr id="14" name="对象 13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5930900" y="3213100"/>
          <a:ext cx="3302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r:id="rId4" imgW="330200" imgH="431800" progId="Equation.KSEE3">
                  <p:embed/>
                </p:oleObj>
              </mc:Choice>
              <mc:Fallback>
                <p:oleObj name="" r:id="rId4" imgW="330200" imgH="4318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930900" y="3213100"/>
                        <a:ext cx="330200" cy="431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81950" y="4187190"/>
            <a:ext cx="3876675" cy="2305685"/>
          </a:xfrm>
          <a:prstGeom prst="rect">
            <a:avLst/>
          </a:prstGeom>
        </p:spPr>
      </p:pic>
      <p:sp>
        <p:nvSpPr>
          <p:cNvPr id="2" name="AutoShape 2"/>
          <p:cNvSpPr>
            <a:spLocks noGrp="1"/>
          </p:cNvSpPr>
          <p:nvPr>
            <p:ph type="body" sz="quarter" idx="10" hasCustomPrompt="1"/>
          </p:nvPr>
        </p:nvSpPr>
        <p:spPr>
          <a:xfrm>
            <a:off x="313055" y="125730"/>
            <a:ext cx="10206990" cy="588010"/>
          </a:xfrm>
          <a:prstGeom prst="rect">
            <a:avLst/>
          </a:prstGeom>
        </p:spPr>
        <p:txBody>
          <a:bodyPr lIns="91436" tIns="45718" rIns="91436" bIns="45718" anchor="ctr"/>
          <a:lstStyle>
            <a:lvl1pPr algn="l">
              <a:lnSpc>
                <a:spcPct val="92000"/>
              </a:lnSpc>
              <a:defRPr sz="2800" b="1" i="0" u="none" strike="noStrike" spc="20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algn="l"/>
            <a:r>
              <a:rPr lang="zh-CN" altLang="zh-CN" sz="2400" b="1" i="0" dirty="0">
                <a:solidFill>
                  <a:srgbClr val="191B1F"/>
                </a:solidFill>
                <a:effectLst/>
                <a:ea typeface="微软雅黑" panose="020B0503020204020204" charset="-122"/>
                <a:cs typeface="微软雅黑" panose="020B0503020204020204" charset="-122"/>
              </a:rPr>
              <a:t>对比</a:t>
            </a:r>
            <a:endParaRPr lang="zh-CN" altLang="zh-CN" sz="2400" b="1" i="0" dirty="0">
              <a:solidFill>
                <a:srgbClr val="191B1F"/>
              </a:solidFill>
              <a:effectLst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2" hasCustomPrompt="1"/>
          </p:nvPr>
        </p:nvSpPr>
        <p:spPr>
          <a:prstGeom prst="rect">
            <a:avLst/>
          </a:prstGeom>
        </p:spPr>
        <p:txBody>
          <a:bodyPr lIns="91436" tIns="45718" rIns="91436" bIns="45718" anchor="ctr"/>
          <a:lstStyle>
            <a:lvl1pPr algn="r">
              <a:lnSpc>
                <a:spcPct val="100000"/>
              </a:lnSpc>
              <a:defRPr sz="1200" b="0" i="0" u="none" strike="noStrike" spc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r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Page </a:t>
            </a:r>
            <a:endParaRPr lang="en-US" sz="1200" b="0" i="0" u="none" strike="noStrike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4005" y="2645410"/>
            <a:ext cx="9063990" cy="36258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UNIT_TEXTBOXSTYLE_SHAPETYPE" val="1"/>
  <p:tag name="KSO_WM_UNIT_TEXTBOXSTYLE_ADJUSTLEFT" val="46.63528_0"/>
  <p:tag name="KSO_WM_UNIT_TEXTBOXSTYLE_ADJUSTTOP" val="0_-65.16016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mixed20201941_251*i*4"/>
  <p:tag name="KSO_WM_TEMPLATE_CATEGORY" val="mixed"/>
  <p:tag name="KSO_WM_TEMPLATE_INDEX" val="20201941"/>
  <p:tag name="KSO_WM_UNIT_LAYERLEVEL" val="1"/>
  <p:tag name="KSO_WM_TAG_VERSION" val="1.0"/>
  <p:tag name="KSO_WM_BEAUTIFY_FLAG" val="#wm#"/>
  <p:tag name="KSO_WM_UNIT_TEXTBOXSTYLE_GUID" val="{7234e2cd-b921-4e30-96ec-4527567113fc}"/>
</p:tagLst>
</file>

<file path=ppt/tags/tag2.xml><?xml version="1.0" encoding="utf-8"?>
<p:tagLst xmlns:p="http://schemas.openxmlformats.org/presentationml/2006/main">
  <p:tag name="KSO_WM_DIAGRAM_VIRTUALLY_FRAME" val="{&quot;height&quot;:188.85,&quot;left&quot;:183.75,&quot;top&quot;:205.18937007874015,&quot;width&quot;:140.14291338582674}"/>
</p:tagLst>
</file>

<file path=ppt/tags/tag3.xml><?xml version="1.0" encoding="utf-8"?>
<p:tagLst xmlns:p="http://schemas.openxmlformats.org/presentationml/2006/main">
  <p:tag name="KSO_WM_DIAGRAM_VIRTUALLY_FRAME" val="{&quot;height&quot;:188.85,&quot;left&quot;:183.75,&quot;top&quot;:205.18937007874015,&quot;width&quot;:140.14291338582674}"/>
</p:tagLst>
</file>

<file path=ppt/tags/tag4.xml><?xml version="1.0" encoding="utf-8"?>
<p:tagLst xmlns:p="http://schemas.openxmlformats.org/presentationml/2006/main">
  <p:tag name="KSO_WM_DIAGRAM_VIRTUALLY_FRAME" val="{&quot;height&quot;:188.85,&quot;left&quot;:183.75,&quot;top&quot;:205.18937007874015,&quot;width&quot;:140.14291338582674}"/>
</p:tagLst>
</file>

<file path=ppt/tags/tag5.xml><?xml version="1.0" encoding="utf-8"?>
<p:tagLst xmlns:p="http://schemas.openxmlformats.org/presentationml/2006/main">
  <p:tag name="KSO_WM_DIAGRAM_VIRTUALLY_FRAME" val="{&quot;height&quot;:188.85,&quot;left&quot;:183.75,&quot;top&quot;:205.18937007874015,&quot;width&quot;:140.14291338582674}"/>
</p:tagLst>
</file>

<file path=ppt/tags/tag6.xml><?xml version="1.0" encoding="utf-8"?>
<p:tagLst xmlns:p="http://schemas.openxmlformats.org/presentationml/2006/main">
  <p:tag name="KSO_WM_DIAGRAM_VIRTUALLY_FRAME" val="{&quot;height&quot;:188.85,&quot;left&quot;:183.75,&quot;top&quot;:205.18937007874015,&quot;width&quot;:140.14291338582674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546</Words>
  <Application>WPS 演示</Application>
  <PresentationFormat>宽屏</PresentationFormat>
  <Paragraphs>78</Paragraphs>
  <Slides>9</Slides>
  <Notes>1</Notes>
  <HiddenSlides>0</HiddenSlides>
  <MMClips>3</MMClips>
  <ScaleCrop>false</ScaleCrop>
  <HeadingPairs>
    <vt:vector size="8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5" baseType="lpstr">
      <vt:lpstr>Arial</vt:lpstr>
      <vt:lpstr>宋体</vt:lpstr>
      <vt:lpstr>Wingdings</vt:lpstr>
      <vt:lpstr>Arial</vt:lpstr>
      <vt:lpstr>微软雅黑</vt:lpstr>
      <vt:lpstr>黑体</vt:lpstr>
      <vt:lpstr>Arial Unicode MS</vt:lpstr>
      <vt:lpstr>KaTeX_Math</vt:lpstr>
      <vt:lpstr>katex_main</vt:lpstr>
      <vt:lpstr>PingFang SC</vt:lpstr>
      <vt:lpstr>KaTeX_Caligraphic</vt:lpstr>
      <vt:lpstr>Segoe Print</vt:lpstr>
      <vt:lpstr>Cambria Math</vt:lpstr>
      <vt:lpstr>Office 主题​​</vt:lpstr>
      <vt:lpstr>Office 主题</vt:lpstr>
      <vt:lpstr>Equation.KSEE3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余景奇</cp:lastModifiedBy>
  <cp:revision>89</cp:revision>
  <dcterms:created xsi:type="dcterms:W3CDTF">2025-08-20T02:25:00Z</dcterms:created>
  <dcterms:modified xsi:type="dcterms:W3CDTF">2026-01-08T08:14:37Z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B2F4B0595FA84E5A9FE5390EF9CD345B_13</vt:lpwstr>
  </property>
  <property fmtid="{D5CDD505-2E9C-101B-9397-08002B2CF9AE}" pid="3" name="KSOProductBuildVer">
    <vt:lpwstr>2052-12.1.0.24034</vt:lpwstr>
  </property>
</Properties>
</file>